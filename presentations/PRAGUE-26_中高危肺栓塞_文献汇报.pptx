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7天主要复合终点</c:v>
                </c:pt>
              </c:strCache>
            </c:strRef>
          </c:tx>
          <c:dPt>
            <c:idx val="0"/>
            <c:spPr>
              <a:solidFill>
                <a:srgbClr val="1765CF"/>
              </a:solidFill>
              <a:ln>
                <a:noFill/>
              </a:ln>
            </c:spPr>
          </c:dPt>
          <c:dPt>
            <c:idx val="1"/>
            <c:spPr>
              <a:solidFill>
                <a:srgbClr val="839AB3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CDT＋抗凝</c:v>
                </c:pt>
                <c:pt idx="1">
                  <c:v>单纯抗凝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0.007142857142857143</c:v>
                </c:pt>
                <c:pt idx="1">
                  <c:v>0.0683453237410072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2500" b="1">
                  <a:solidFill>
                    <a:srgbClr val="102C50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6E2F0"/>
            </a:solidFill>
          </a:ln>
        </c:spPr>
        <c:txPr>
          <a:bodyPr/>
          <a:lstStyle/>
          <a:p>
            <a:pPr>
              <a:defRPr sz="1700">
                <a:solidFill>
                  <a:srgbClr val="19324F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8"/>
          <c:min val="0.0"/>
        </c:scaling>
        <c:delete val="0"/>
        <c:axPos val="l"/>
        <c:majorGridlines>
          <c:spPr>
            <a:ln>
              <a:solidFill>
                <a:srgbClr val="D6E2F0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60758C"/>
                </a:solidFill>
                <a:latin typeface="Noto Sans CJK SC"/>
              </a:defRPr>
            </a:pPr>
          </a:p>
        </c:txPr>
        <c:crossAx val="-2068027336"/>
        <c:crosses val="autoZero"/>
        <c:majorUnit val="0.0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中高危肺栓塞：导管定向溶栓</a:t>
            </a:r>
          </a:p>
          <a:p/>
          <a:p>
            <a:r>
              <a:t>【讲解】</a:t>
            </a:r>
          </a:p>
          <a:p>
            <a:r>
              <a:t>今天汇报 PRAGUE-26 研究，研究问题是：对于血流动力学稳定但属于中高危的急性肺栓塞患者，在抗凝基础上加入常规、低剂量导管定向溶栓，能否改善早期临床结局？重点不是导管技术细节本身，而是临床获益是否成立、由哪个终点驱动，以及安全性和外推边界。全文发表于2026年8月31日，以下发表信息按所提供PDF记录。建议正文讲解15–20分钟，附录用于提问。</a:t>
            </a:r>
          </a:p>
          <a:p/>
          <a:p>
            <a:r>
              <a:t>【来源】</a:t>
            </a:r>
          </a:p>
          <a:p>
            <a:r>
              <a:t>上传论文PDF第1页；全文11页。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先看结论：早期事件减少，获益边界要清楚</a:t>
            </a:r>
          </a:p>
          <a:p/>
          <a:p>
            <a:r>
              <a:t>【讲解】</a:t>
            </a:r>
          </a:p>
          <a:p>
            <a:r>
              <a:t>先给出全篇汇报的主线。CDT组7天主要复合终点为2/280，即0.7%；对照组为19/278，即6.8%。相对风险0.10，95%置信区间0.02–0.44，P&lt;0.001。差异主要来自心肺失代偿或崩溃事件减少，不能把90%的相对降幅写成死亡风险降幅。安全性方面，整体出血比较没有明确差异，但CDT组有2例颅内出血，对照组没有；试验对罕见严重不良事件的检验效能有限。接下来解释为什么提出这个问题、如何检验，以及结果能支持什么临床判断。</a:t>
            </a:r>
          </a:p>
          <a:p/>
          <a:p>
            <a:r>
              <a:t>【来源】</a:t>
            </a:r>
          </a:p>
          <a:p>
            <a:r>
              <a:t>正文第7–11页；表3、表4。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血流动力学稳定，仍可能在早期恶化</a:t>
            </a:r>
          </a:p>
          <a:p/>
          <a:p>
            <a:r>
              <a:t>【讲解】</a:t>
            </a:r>
          </a:p>
          <a:p>
            <a:r>
              <a:t>中高危肺栓塞患者初始并没有持续性血流动力学不稳定，但已出现右室损伤或负荷增加，仍可能在充分抗凝后恶化。抗凝是基本治疗；背景文献表明系统溶栓可以减少临床恶化，但主要出血及颅内出血风险限制其常规使用。局部导管输注低剂量纤溶药物的设想，是在减少全身药物暴露的同时恢复肺循环。图中的链条是病理生理和研究逻辑示意，不是本研究直接证明的机制终点。真正需要RCT回答的是：这种技术能否减少患者实际经历的临床事件。</a:t>
            </a:r>
          </a:p>
          <a:p/>
          <a:p>
            <a:r>
              <a:t>【来源】</a:t>
            </a:r>
          </a:p>
          <a:p>
            <a:r>
              <a:t>正文第2页背景、第10页讨论。系统溶栓的背景判断为作者基于文献提出，非本试验直接比较。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常规低剂量 CDT，能改善临床结局吗？</a:t>
            </a:r>
          </a:p>
          <a:p/>
          <a:p>
            <a:r>
              <a:t>【讲解】</a:t>
            </a:r>
          </a:p>
          <a:p>
            <a:r>
              <a:t>用PICO明确问题。人群是研究所定义的中高危急性肺栓塞；干预是普通输注导管进行低剂量阿替普酶溶栓，同时抗凝；对照是单纯抗凝。主要终点为7天全因死亡、肺栓塞复发或心肺失代偿/崩溃。注意这不是单看右室/左室比值下降的研究，也不是CDT与机械取栓或系统溶栓的头对头试验。作者提及已有超声辅助导管研究，本试验补充的是常规、不使用超声辅助的CDT对临床结局的随机证据。</a:t>
            </a:r>
          </a:p>
          <a:p/>
          <a:p>
            <a:r>
              <a:t>【来源】</a:t>
            </a:r>
          </a:p>
          <a:p>
            <a:r>
              <a:t>正文第2–4页方法；第10页讨论。PE=pulmonary embolism，肺栓塞。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558例随机试验：早期介入 vs 单纯抗凝</a:t>
            </a:r>
          </a:p>
          <a:p/>
          <a:p>
            <a:r>
              <a:t>【讲解】</a:t>
            </a:r>
          </a:p>
          <a:p>
            <a:r>
              <a:t>PRAGUE-26于2022年10月至2026年3月在捷克11个三级心血管中心开展。558例按1∶1分配，CDT组280例，对照278例，全部进入意向治疗分析。分层因素包括年龄、性别、肺栓塞单侧/双侧、CT诊断距随机化的时间及直接入院/转诊。主要终点时间窗是7天，30天观察功能、安全性及其他次要终点，长期随访将持续至2年。研究开放标签，且临床事件委员会和数据安全监察委员会均知晓组别，这是后续评价偏倚时的重要信息。ITT是按最初随机分组进行分析，不应把技术失败患者事后从主要分析中剔除。</a:t>
            </a:r>
          </a:p>
          <a:p/>
          <a:p>
            <a:r>
              <a:t>【来源】</a:t>
            </a:r>
          </a:p>
          <a:p>
            <a:r>
              <a:t>正文第2、4–5页；图1；长期随访见第4页。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锁定中高危，同时筛除高出血风险</a:t>
            </a:r>
          </a:p>
          <a:p/>
          <a:p>
            <a:r>
              <a:t>【讲解】</a:t>
            </a:r>
          </a:p>
          <a:p>
            <a:r>
              <a:t>必须按试验实际采用的定义理解人群。年龄18–80岁，CT显示至少一条主肺动脉或叶肺动脉受累，症状起病至随机化小于14天；同时要求血流动力学稳定、sPESI≥1、右室功能障碍和肌钙蛋白或利钠肽升高。右室/左室舒张末内径比≥0.9可以由超声或CT判定。这里不能把“或”误说为两个标志物必须同时升高。研究排除了活动性显著出血、既往出血性卒中、6个月内缺血性卒中/TIA、3个月内颅脑外伤、7天内重大手术及部分严重实验室异常等；完整标准见表1。排除条目中的肿瘤/严重疾病与预期生存有关，基线仍有少量正在治疗的肿瘤患者，故不应概括为“所有肿瘤患者均排除”。以上是纳排摘要，不是临床用药规则。</a:t>
            </a:r>
          </a:p>
          <a:p/>
          <a:p>
            <a:r>
              <a:t>【来源】</a:t>
            </a:r>
          </a:p>
          <a:p>
            <a:r>
              <a:t>正文第2–3页；表1。RV/LV为右室/左室舒张末内径比；sPESI为简化肺栓塞严重程度指数。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干预关键：普通导管、低剂量、持续抗凝</a:t>
            </a:r>
          </a:p>
          <a:p/>
          <a:p>
            <a:r>
              <a:t>【讲解】</a:t>
            </a:r>
          </a:p>
          <a:p>
            <a:r>
              <a:t>干预使用标准4F有阀输注导管，输注段10厘米，例如Cragg–McNamara或同类导管。每根导管先推注阿替普酶1 mg，随后1 mg/h，双侧肺栓塞总量上限20 mg、单侧10 mg。总量上限的表述包含整个给药方案，不额外叠加成22 mg。溶栓期间继续降低强度的普通肝素，建议aPTT目标50–60秒；结束后不中断地继续治疗剂量抗凝。对照组接受治疗剂量UFH或低分子肝素，口服抗凝转换不早于24小时。方案建议可行时3小时内启动；实际中位启动时间76分钟，89.3%在3小时内，平均输注9.3小时。此页是在复述研究方案，并非独立处方建议。</a:t>
            </a:r>
          </a:p>
          <a:p/>
          <a:p>
            <a:r>
              <a:t>【来源】</a:t>
            </a:r>
          </a:p>
          <a:p>
            <a:r>
              <a:t>正文第3页及第5页。UFH=普通肝素；aPTT=活化部分凝血活酶时间。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主要终点：7天内发生的临床复合事件</a:t>
            </a:r>
          </a:p>
          <a:p/>
          <a:p>
            <a:r>
              <a:t>【讲解】</a:t>
            </a:r>
          </a:p>
          <a:p>
            <a:r>
              <a:t>主要终点是随机后7天内全因死亡、肺栓塞复发或心肺失代偿/崩溃。后者的定义较广：心搏骤停或心肺复苏、出现休克、启动ECMO、插管或无创机械通气，或者在随机化后24小时至第7天NEWS达到9分及以上，并在相隔15分钟的两次测量中确认。休克及支持治疗条件的观察窗从随机化开始；NEWS条件则从24小时开始。因此，不能把所有失代偿事件直接称为心搏骤停或休克。复合终点按发生事件的患者计数，组成项存在重叠，不能把各行例数相加代替复合终点。该终点具有临床意义，但部分组成因素可能受开放标签下的处置决策影响。</a:t>
            </a:r>
          </a:p>
          <a:p/>
          <a:p>
            <a:r>
              <a:t>【来源】</a:t>
            </a:r>
          </a:p>
          <a:p>
            <a:r>
              <a:t>正文第4页Outcomes；表3，第8页。ECMO=体外膜肺氧合；NEWS=国家早期预警评分。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基线总体相近，既往血栓史存在不平衡</a:t>
            </a:r>
          </a:p>
          <a:p/>
          <a:p>
            <a:r>
              <a:t>【讲解】</a:t>
            </a:r>
          </a:p>
          <a:p>
            <a:r>
              <a:t>两组年龄中位数均64岁，女性比例约41%，98.2%为双侧肺栓塞，右室/左室比值中位数1.13与1.14。总体基线相近，但不能简单说完全均衡：既往肺栓塞或深静脉血栓史为22.5%与32.4%，标准化均数差22.3%，超过表2提示可能存在不平衡的20%阈值。它应作为解读局限，而不能未经分析就归因为主要结果的原因。7天随访两组均完整，30天随访完成率分别99.3%与94.6%，后者在评价较晚期次要结果时需要注意。全队列中位年龄64岁、女性40.9%，约一半患者由协作医院转入。</a:t>
            </a:r>
          </a:p>
          <a:p/>
          <a:p>
            <a:r>
              <a:t>【来源】</a:t>
            </a:r>
          </a:p>
          <a:p>
            <a:r>
              <a:t>正文第5–7页；表2。SMD=standardized mean difference，标准化均数差。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7天主要终点：0.7% vs 6.8%</a:t>
            </a:r>
          </a:p>
          <a:p/>
          <a:p>
            <a:r>
              <a:t>【讲解】</a:t>
            </a:r>
          </a:p>
          <a:p>
            <a:r>
              <a:t>主要结果按意向治疗分析。CDT组2/280、对照组19/278发生7天主要终点，报告的相对风险为0.10，95%置信区间0.02–0.44，P&lt;0.001。原文风险差定义为CDT减对照，为−6.1个百分点，95%置信区间−9.2至−3.0；因此从获益方向表达为绝对风险降低约6.1个百分点。按实际发生率计算，ARR=19/278−2/280≈0.06120，倒数约16.34，向上取整得到NNT≈17。这是汇报者推算，适用的是本研究7天复合终点，不能转写为救活1人的NNT，也不能直接外推到基础风险不同的群体。柱图纵轴从0开始，展示发生率，不是生存曲线；论文未提供可重建的个体时间事件数据。</a:t>
            </a:r>
          </a:p>
          <a:p/>
          <a:p>
            <a:r>
              <a:t>【来源】</a:t>
            </a:r>
          </a:p>
          <a:p>
            <a:r>
              <a:t>正文第7页风险差；第8页表3；NNT为汇报者依据两组观察发生率计算，非论文原报指标。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差异主要来自心肺失代偿/崩溃减少</a:t>
            </a:r>
          </a:p>
          <a:p/>
          <a:p>
            <a:r>
              <a:t>【讲解】</a:t>
            </a:r>
          </a:p>
          <a:p>
            <a:r>
              <a:t>拆解后可见，心肺失代偿或崩溃为2例对15例，即0.7%对5.4%，RR0.13，95%置信区间0.03–0.57。7天死亡0例对4例；肺栓塞复发2例对1例，RR1.99，95%置信区间0.18–21.77，因此不能说CDT减少了肺栓塞复发。CDT组主要复合终点只发生于2名患者，但复发和失代偿各有2例，说明组成项重叠，不能相加成4例。死亡的时间窗必须严格区分：第8–30天CDT组新增1例死亡、对照无新增，所以30天累计死亡是1例对4例。试验未针对死亡效应提供足够把握度，不能根据少量死亡数字声称已确证生存获益。</a:t>
            </a:r>
          </a:p>
          <a:p/>
          <a:p>
            <a:r>
              <a:t>【来源】</a:t>
            </a:r>
          </a:p>
          <a:p>
            <a:r>
              <a:t>正文第7–8页；表3全部为7天终点。30天死亡见第8页正文。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未见明确出血差异，颅内出血仍需警惕</a:t>
            </a:r>
          </a:p>
          <a:p/>
          <a:p>
            <a:r>
              <a:t>【讲解】</a:t>
            </a:r>
          </a:p>
          <a:p>
            <a:r>
              <a:t>7天临床相关出血为13例对14例，4.6%对5.0%，RR0.92，95%置信区间0.44–1.93，P=0.85；GUSTO大出血4例对6例，RR0.66，95%置信区间0.19–2.32，P=0.54。这些区间较宽，仍允许具有临床意义的风险差异。颅内出血发生于CDT组2例、对照0例，P=0.50，低事件数下不显著不能解释为无需担心。原文描述一例在输注结束后高血压期间发生，另一例于第5天在低分子肝素过量背景下发生；这些背景有助于讨论血压与抗凝管理，但不能据此排除治疗相关风险。对照组还发生1例升级救援治疗后的致死性出血。安全性应按随机策略理解，对照策略并不保证永不接受救援再灌注。</a:t>
            </a:r>
          </a:p>
          <a:p/>
          <a:p>
            <a:r>
              <a:t>【来源】</a:t>
            </a:r>
          </a:p>
          <a:p>
            <a:r>
              <a:t>正文第8–9页Safety；表4；第10–11页安全性讨论及局限。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次要结局提示恢复更快，需审慎解读</a:t>
            </a:r>
          </a:p>
          <a:p/>
          <a:p>
            <a:r>
              <a:t>【讲解】</a:t>
            </a:r>
          </a:p>
          <a:p>
            <a:r>
              <a:t>原文报告，24小时超声RV/LV中位数0.94与1.07，ICU住院中位数2.1与2.8天，总住院中位数4.3与5.1天，30天WHO功能Ⅰ级比例58.2%与44.6%。这些结果在方向上与更快恢复一致，但正文并没有给出这些指标的逐项显著性检验结果，不能补造P值或统一称为显著改善。作者明确次要终点置信区间未进行多重比较校正，应作支持性解释。这些是预设次要结局，并非均为事后分析。住院时间与功能分级也可能受到开放标签和处置决策影响，30天两组随访完成率不同进一步限制解释。WHO功能分级越高意味着功能受限越重，Ⅰ级为最轻。</a:t>
            </a:r>
          </a:p>
          <a:p/>
          <a:p>
            <a:r>
              <a:t>【来源】</a:t>
            </a:r>
          </a:p>
          <a:p>
            <a:r>
              <a:t>正文第8页Other Secondary Outcomes、第9页；统计解释见第4页。原文相关补充表S9–S11未随此次文件提供。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可信之处：随机比较、临床终点、完整早期随访</a:t>
            </a:r>
          </a:p>
          <a:p/>
          <a:p>
            <a:r>
              <a:t>【讲解】</a:t>
            </a:r>
          </a:p>
          <a:p>
            <a:r>
              <a:t>评价不能只列局限，也要理解证据为何有价值。第一，这是随机比较并以ITT为主要分析，280例与278例全部保留在分析中，技术未成功的1例没有被剔除。第二，主要终点是临床事件，而不是仅使用右室/左室比等替代终点。第三，7天结局随访100%，使主要结局不依赖对失访的推断。干预执行方面，279/280成功置入并启动阿替普酶输注，89.3%在3小时内启动，说明在这类中心具备实施可行性。按方案分析据正文描述与主要结果一致，但具体补充表未提供，不能重绘不存在的完整敏感性分析。无产业赞助是研究背景，不能据此认定没有任何偏倚。</a:t>
            </a:r>
          </a:p>
          <a:p/>
          <a:p>
            <a:r>
              <a:t>【来源】</a:t>
            </a:r>
          </a:p>
          <a:p>
            <a:r>
              <a:t>正文第2页研究设计、第4页统计方法、第5页执行与随访、第7页按方案分析描述。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结论的边界：偏倚、精确度、可推广性</a:t>
            </a:r>
          </a:p>
          <a:p/>
          <a:p>
            <a:r>
              <a:t>【讲解】</a:t>
            </a:r>
          </a:p>
          <a:p>
            <a:r>
              <a:t>第一，开放标签及未盲法事件裁定，可能影响管理、支持治疗决策和事件报告。部分失代偿条件如是否启动通气或ECMO，临床上重要，但也更容易受到管理决策影响；不能因此认定全部结果无效。第二，总共21例主要事件，7天4例死亡、30天累计5例死亡，颅内出血2例，研究主要是为复合终点设计，不足以排除罕见严重出血差异或确证生存优势。第三，捷克三级中心、主要白人、年龄不超过80岁，且未保留筛查日志，不能全面判断入组者占所有可筛选患者的代表性。30天完成率为278/280与263/278。原文检验未发现反对完全随机缺失的证据，但未拒绝假设不能等同证明缺失绝对无偏。长期结局仍待随访。</a:t>
            </a:r>
          </a:p>
          <a:p/>
          <a:p>
            <a:r>
              <a:t>【来源】</a:t>
            </a:r>
          </a:p>
          <a:p>
            <a:r>
              <a:t>正文第2页委员会知组别；第5页随访和筛查日志；第10–11页局限；第9页表4脚注缺失数据说明。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临床转化：支持选择性评估早期 CDT</a:t>
            </a:r>
          </a:p>
          <a:p/>
          <a:p>
            <a:r>
              <a:t>【讲解】</a:t>
            </a:r>
          </a:p>
          <a:p>
            <a:r>
              <a:t>这项研究支持的方向是在经过筛选的中高危患者、且具备成熟介入与监护条件的中心，评估提前采用常规CDT以预防早期恶化的策略。它并不意味着所有中高危肺栓塞均应常规接受CDT，也不构成本文之外的指南更新。本研究的对照只有单纯抗凝策略，不能说明它优于超声辅助CDT、系统溶栓或机械取栓，更不能根据两项不同试验的事件率直接比较技术优劣。对超龄、出血风险更高或其他未充分代表的人群，以及长期功能和生存，仍缺直接证据。临床落点应是患者选择、流程能力、低剂量方案、血压与抗凝管理的整体评估。</a:t>
            </a:r>
          </a:p>
          <a:p/>
          <a:p>
            <a:r>
              <a:t>【来源】</a:t>
            </a:r>
          </a:p>
          <a:p>
            <a:r>
              <a:t>正文第10–11页讨论与局限。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最稳妥的结论：减少早期心肺失代偿</a:t>
            </a:r>
          </a:p>
          <a:p/>
          <a:p>
            <a:r>
              <a:t>【讲解】</a:t>
            </a:r>
          </a:p>
          <a:p>
            <a:r>
              <a:t>最后归纳三点。第一，PRAGUE-26为常规低剂量CDT加抗凝提供了降低7天临床复合终点的随机证据，绝对差约6.1个百分点，主要来自减少心肺失代偿或崩溃。第二，未观察到明确的大出血差异，但发生2例颅内出血且罕见事件估计不精确，不能宣布安全等效。第三，结果依赖于筛选后的中高危人群与具备能力的中心，死亡获益、长期功能及与其他再灌注方式的比较仍未确定。可以围绕“谁最可能恶化而又能接受溶栓风险”引出讨论。附录准备了定义、完整安全性数据和统计要点，可按提问调出。</a:t>
            </a:r>
          </a:p>
          <a:p/>
          <a:p>
            <a:r>
              <a:t>【来源】</a:t>
            </a:r>
          </a:p>
          <a:p>
            <a:r>
              <a:t>第7–11页；表3、表4。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附录A：心肺失代偿/崩溃的操作定义</a:t>
            </a:r>
          </a:p>
          <a:p/>
          <a:p>
            <a:r>
              <a:t>【讲解】</a:t>
            </a:r>
          </a:p>
          <a:p>
            <a:r>
              <a:t>本页用于回答终点定义的质疑。原文低血压定义为收缩压低于90 mmHg，或较原值下降至少40 mmHg且持续至少15分钟并具有适当容量状态，或需要升压药维持收缩压至少90 mmHg；终末器官低灌注包括精神状态改变、少尿/无尿或乳酸超过2 mmol/L。心搏骤停/复苏、休克、ECMO或机械通气的条件观察窗为随机化至第7天；NEWS≥9则仅在24小时至第7天内，且需相隔15分钟连续两次确认。由于缺少补充表S6，无法从提供文件进一步重建每一例失代偿的具体触发项。</a:t>
            </a:r>
          </a:p>
          <a:p/>
          <a:p>
            <a:r>
              <a:t>【来源】</a:t>
            </a:r>
          </a:p>
          <a:p>
            <a:r>
              <a:t>正文第4页；NEWS细则指向原文补充表S2，该表未随上传文件提供。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附录B：7天与30天累计安全性数据</a:t>
            </a:r>
          </a:p>
          <a:p/>
          <a:p>
            <a:r>
              <a:t>【讲解】</a:t>
            </a:r>
          </a:p>
          <a:p>
            <a:r>
              <a:t>本页逐项转录表4累计发生患者数。BARC≥2、GUSTO和ISTH是不同出血定义，不应混成同一种大出血。30天BARC为16例对16例，GUSTO为5例对6例，ISTH为6例对7例，颅内出血仍为2例对0例。表4的比例按其ITT呈现转录，没有自行换成完成随访人数作为新分母。正文对第8–30天出血的分时段报告不能与前7天简单相加后替代表4的累计患者数：两个时段的患者可能重复，缺少个体资料，无法进一步核对差额原因。最末死亡行来自第8页：7天0对4，第8–30天1对0，因此30天累计1对4，非表4内容。</a:t>
            </a:r>
          </a:p>
          <a:p/>
          <a:p>
            <a:r>
              <a:t>【来源】</a:t>
            </a:r>
          </a:p>
          <a:p>
            <a:r>
              <a:t>第9页表4；第8页死亡结果。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附录C：统计设计与效应量如何解读</a:t>
            </a:r>
          </a:p>
          <a:p/>
          <a:p>
            <a:r>
              <a:t>【讲解】</a:t>
            </a:r>
          </a:p>
          <a:p>
            <a:r>
              <a:t>样本量按对照6.0%、干预1.5%的7天主要事件率差异估算，558例提供80%效能，试验过程中未调整样本量。主要分析采用ITT，分类变量Fisher精确检验；两次期中分析及最终分析采用O’Brien–Fleming界值，最终双侧显著性阈值为0.047。主要结果P&lt;0.001越过这一界值。按方案分析为支持性分析。连续变量采用Mann–Whitney检验。次要终点的置信区间没有多重比较校正。NNT是按观测绝对风险差的倒数计算，并向上取整为17；不是原文直接报告，也不是长期或死亡NNT。次要终点事件少、置信区间宽，主试验“有统计学效能”不代表对每一种安全性或死亡结局都有相同效能。</a:t>
            </a:r>
          </a:p>
          <a:p/>
          <a:p>
            <a:r>
              <a:t>【来源】</a:t>
            </a:r>
          </a:p>
          <a:p>
            <a:r>
              <a:t>第4页Statistical Analysis；第7页风险差；第8页表3。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参考文献与试验信息</a:t>
            </a:r>
          </a:p>
          <a:p/>
          <a:p>
            <a:r>
              <a:t>【讲解】</a:t>
            </a:r>
          </a:p>
          <a:p>
            <a:r>
              <a:t>本汇报唯一的直接数据来源为用户上传的11页英文全文。正式引用：Kroupa J, Radvan M, Mrozek J, et al. Catheter-Directed Thrombolysis in Intermediate-High–Risk Pulmonary Embolism. N Engl J Med. Published online August 31, 2026. doi:10.1056/NEJMoa2608012。试验注册PRAGUE-26，ClinicalTrials.gov NCT05493163，EudraCT 2022-002218-18，EU CT 2024-516144-25-00。资助来自捷克卫生部等，正文说明无产业赞助。此次文件没有补充附录与完整方案，未据此生成未提供的亚组森林图、Kaplan–Meier曲线或长期结果。NNT明确标为汇报者计算；临床应用页属于基于研究范围的解读，非新的指南建议。</a:t>
            </a:r>
          </a:p>
          <a:p/>
          <a:p>
            <a:r>
              <a:t>【来源】</a:t>
            </a:r>
          </a:p>
          <a:p>
            <a:r>
              <a:t>上传PDF第1页；第2、4、11页；原文所引用补充材料未随本次文件提供。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43800" y="0"/>
            <a:ext cx="4648199" cy="6858000"/>
          </a:xfrm>
          <a:prstGeom prst="rect">
            <a:avLst/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27264" y="1170432"/>
            <a:ext cx="3749039" cy="3749039"/>
          </a:xfrm>
          <a:prstGeom prst="ellipse">
            <a:avLst/>
          </a:prstGeom>
          <a:noFill/>
          <a:ln w="15240">
            <a:solidFill>
              <a:srgbClr val="176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02168" y="1545336"/>
            <a:ext cx="2999232" cy="2999232"/>
          </a:xfrm>
          <a:prstGeom prst="ellipse">
            <a:avLst/>
          </a:prstGeom>
          <a:noFill/>
          <a:ln w="15240">
            <a:solidFill>
              <a:srgbClr val="176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77072" y="1920240"/>
            <a:ext cx="2249424" cy="2249424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JOURNAL CLUB  /  PRAGUE-26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35024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中高危肺栓塞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导管定向溶栓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73552"/>
            <a:ext cx="6355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D5E4F4"/>
                </a:solidFill>
                <a:latin typeface="Noto Sans CJK SC"/>
                <a:ea typeface="Noto Sans CJK SC"/>
                <a:cs typeface="Noto Sans CJK SC"/>
              </a:rPr>
              <a:t>Catheter-Directed Thrombolysis 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D5E4F4"/>
                </a:solidFill>
                <a:latin typeface="Noto Sans CJK SC"/>
                <a:ea typeface="Noto Sans CJK SC"/>
                <a:cs typeface="Noto Sans CJK SC"/>
              </a:rPr>
              <a:t>Intermediate-High–Risk Pulmonary Embolism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" y="4590288"/>
            <a:ext cx="5669280" cy="0"/>
          </a:xfrm>
          <a:prstGeom prst="line">
            <a:avLst/>
          </a:prstGeom>
          <a:ln w="15240">
            <a:solidFill>
              <a:srgbClr val="176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" y="4818888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研究逻辑  ·  核心结果  ·  临床解读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605272"/>
            <a:ext cx="1572768" cy="338328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564184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随机对照试验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6584" y="5605272"/>
            <a:ext cx="1280160" cy="338328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6584" y="564184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常规 CDT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3904" y="5605272"/>
            <a:ext cx="1280160" cy="338328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564184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临床结局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31343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5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63824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例随机试验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4791456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D5E4F4"/>
                </a:solidFill>
                <a:latin typeface="Noto Sans CJK SC"/>
                <a:ea typeface="Noto Sans CJK SC"/>
                <a:cs typeface="Noto Sans CJK SC"/>
              </a:rPr>
              <a:t>11 个中心  ·  7 天主要终点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41908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ED6"/>
                </a:solidFill>
                <a:latin typeface="Noto Sans CJK SC"/>
                <a:ea typeface="Noto Sans CJK SC"/>
                <a:cs typeface="Noto Sans CJK SC"/>
              </a:rPr>
              <a:t>Kroupa J, et al. N Engl J Med. 2026-08-31.  DOI: 10.1056/NEJMoa2608012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先看结论：早期事件减少，获益边界要清楚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比较对象：常规导管定向溶栓（CDT）＋抗凝 vs 单纯抗凝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来源：正文第7–11页；表3、表4。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56231"/>
            <a:ext cx="3520440" cy="3694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4256" y="1856231"/>
            <a:ext cx="3520440" cy="3694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74152" y="1856231"/>
            <a:ext cx="3520440" cy="3694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12264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01  主要终点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9806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0.7% vs 6.8%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75887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7天复合事件减少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RR 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882896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95% CI 0.02–0.44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112264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02  获益来源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76148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心肺失代偿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明显减少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48056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尚未确证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死亡获益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112264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03  安全边界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98064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AD681A"/>
                </a:solidFill>
                <a:latin typeface="Noto Sans CJK SC"/>
                <a:ea typeface="Noto Sans CJK SC"/>
                <a:cs typeface="Noto Sans CJK SC"/>
              </a:rPr>
              <a:t>2 vs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67588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7天颅内出血例数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4489704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大出血无明确差异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不代表安全等效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43016"/>
            <a:ext cx="11000232" cy="43891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91159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一句话：更稳妥的结论是“预防早期失代偿”，而非“已证实降低死亡率”。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血流动力学稳定，仍可能在早期恶化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中高危肺栓塞的难点：何时从抗凝升级为再灌注？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来源：正文第2页背景、第10页讨论。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313639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2862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肺动脉阻塞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血管阻力增加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47088"/>
            <a:ext cx="313639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1"/>
            <a:ext cx="2862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右室负荷增加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88336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功能受损、标志物升高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847088"/>
            <a:ext cx="313639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084831"/>
            <a:ext cx="2862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心肺失代偿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688336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休克或呼吸支持需求</a:t>
            </a:r>
          </a:p>
        </p:txBody>
      </p:sp>
      <p:sp>
        <p:nvSpPr>
          <p:cNvPr id="17" name="Chevron 16"/>
          <p:cNvSpPr/>
          <p:nvPr/>
        </p:nvSpPr>
        <p:spPr>
          <a:xfrm>
            <a:off x="3941063" y="2377440"/>
            <a:ext cx="365760" cy="256032"/>
          </a:xfrm>
          <a:prstGeom prst="chevron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872983" y="2377440"/>
            <a:ext cx="365760" cy="256032"/>
          </a:xfrm>
          <a:prstGeom prst="chevron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666744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666744"/>
            <a:ext cx="50292" cy="1965960"/>
          </a:xfrm>
          <a:prstGeom prst="rect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22776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抗凝：治疗基础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72584"/>
            <a:ext cx="3063240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仍存在早期恶化风险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666744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4256" y="3666744"/>
            <a:ext cx="50292" cy="1965960"/>
          </a:xfrm>
          <a:prstGeom prst="rect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3922776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系统溶栓：权衡出血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4672584"/>
            <a:ext cx="3063240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可减少恶化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但出血代价限制常规应用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3666744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4152" y="3666744"/>
            <a:ext cx="50292" cy="1965960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3922776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局部低剂量 CDT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672584"/>
            <a:ext cx="3063240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能否保留再灌注获益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并限制出血？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843016"/>
            <a:ext cx="11000232" cy="43891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91159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核心张力：在“等待恶化”与“提前干预”之间，寻找净临床获益。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常规低剂量 CDT，能改善临床结局吗？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证据缺口：不依赖超声辅助，是否也能获得临床获益？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来源：正文第2–4页方法。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0512"/>
            <a:ext cx="1100023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956816"/>
            <a:ext cx="530352" cy="530352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02536"/>
            <a:ext cx="530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29967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研究人群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84248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中高危急性肺栓塞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98064"/>
            <a:ext cx="1100023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2944368"/>
            <a:ext cx="530352" cy="530352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90088"/>
            <a:ext cx="530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0175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干预措施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971800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常规 CDT＋抗凝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85616"/>
            <a:ext cx="1100023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931920"/>
            <a:ext cx="530352" cy="530352"/>
          </a:xfrm>
          <a:prstGeom prst="ellipse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7640"/>
            <a:ext cx="530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0050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对照措施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3959352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单纯抗凝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73168"/>
            <a:ext cx="1100023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919472"/>
            <a:ext cx="530352" cy="530352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65192"/>
            <a:ext cx="530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9926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主要结局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4946904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7天死亡、复发PE或心肺失代偿/崩溃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研究设计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558例随机试验：早期介入 vs 单纯抗凝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捷克 11 个三级心血管中心  ·  开放标签  ·  研究者发起、无产业赞助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来源：正文第2页、第4–5页；图1。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6392" y="1801368"/>
            <a:ext cx="5925312" cy="658368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11095"/>
            <a:ext cx="561441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558 例  ·  分层随机 1∶1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468880"/>
            <a:ext cx="0" cy="283464"/>
          </a:xfrm>
          <a:prstGeom prst="line">
            <a:avLst/>
          </a:prstGeom>
          <a:ln w="22860">
            <a:solidFill>
              <a:srgbClr val="176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37560" y="2752344"/>
            <a:ext cx="5513832" cy="0"/>
          </a:xfrm>
          <a:prstGeom prst="line">
            <a:avLst/>
          </a:prstGeom>
          <a:ln w="22860">
            <a:solidFill>
              <a:srgbClr val="176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37560" y="2752344"/>
            <a:ext cx="0" cy="219456"/>
          </a:xfrm>
          <a:prstGeom prst="line">
            <a:avLst/>
          </a:prstGeom>
          <a:ln w="22860">
            <a:solidFill>
              <a:srgbClr val="176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51392" y="2752344"/>
            <a:ext cx="0" cy="219456"/>
          </a:xfrm>
          <a:prstGeom prst="line">
            <a:avLst/>
          </a:prstGeom>
          <a:ln w="22860">
            <a:solidFill>
              <a:srgbClr val="176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297180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97180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971800"/>
            <a:ext cx="64008" cy="1143000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2971800"/>
            <a:ext cx="64008" cy="1143000"/>
          </a:xfrm>
          <a:prstGeom prst="rect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182112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常规 CDT＋抗凝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63824"/>
            <a:ext cx="1097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280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182112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单纯抗凝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5832" y="3163824"/>
            <a:ext cx="1097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278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703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ITT 分析：全部 280 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703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ITT 分析：全部 278 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4892040"/>
            <a:ext cx="9948672" cy="0"/>
          </a:xfrm>
          <a:prstGeom prst="line">
            <a:avLst/>
          </a:prstGeom>
          <a:ln w="3810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4983" y="4809744"/>
            <a:ext cx="164592" cy="164592"/>
          </a:xfrm>
          <a:prstGeom prst="ellipse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" y="517550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随机化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" y="5715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入组 / 分配</a:t>
            </a:r>
          </a:p>
        </p:txBody>
      </p:sp>
      <p:sp>
        <p:nvSpPr>
          <p:cNvPr id="28" name="Oval 27"/>
          <p:cNvSpPr/>
          <p:nvPr/>
        </p:nvSpPr>
        <p:spPr>
          <a:xfrm>
            <a:off x="4325112" y="4809744"/>
            <a:ext cx="164592" cy="164592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517550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第7天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5715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主要终点</a:t>
            </a:r>
          </a:p>
        </p:txBody>
      </p:sp>
      <p:sp>
        <p:nvSpPr>
          <p:cNvPr id="31" name="Oval 30"/>
          <p:cNvSpPr/>
          <p:nvPr/>
        </p:nvSpPr>
        <p:spPr>
          <a:xfrm>
            <a:off x="7635240" y="4809744"/>
            <a:ext cx="164592" cy="164592"/>
          </a:xfrm>
          <a:prstGeom prst="ellipse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1696" y="517550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第30天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5715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安全 / 功能</a:t>
            </a:r>
          </a:p>
        </p:txBody>
      </p:sp>
      <p:sp>
        <p:nvSpPr>
          <p:cNvPr id="34" name="Oval 33"/>
          <p:cNvSpPr/>
          <p:nvPr/>
        </p:nvSpPr>
        <p:spPr>
          <a:xfrm>
            <a:off x="10963656" y="4809744"/>
            <a:ext cx="164592" cy="164592"/>
          </a:xfrm>
          <a:prstGeom prst="ellipse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0112" y="517550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2年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5715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随访进行中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研究人群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锁定中高危，同时筛除高出血风险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基本条件：18–80 岁  ·  近端肺栓塞  ·  症状起病＜14天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来源：正文第2–3页；表1。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56231"/>
            <a:ext cx="713232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试验中的“中高危”定义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52344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734056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血流动力学稳定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7048" y="3273551"/>
            <a:ext cx="5861304" cy="0"/>
          </a:xfrm>
          <a:prstGeom prst="line">
            <a:avLst/>
          </a:prstGeom>
          <a:ln w="8255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6112" y="346557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44728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sPESI ≥1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27048" y="3986784"/>
            <a:ext cx="5861304" cy="0"/>
          </a:xfrm>
          <a:prstGeom prst="line">
            <a:avLst/>
          </a:prstGeom>
          <a:ln w="8255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6112" y="4178808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416052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右室功能障碍：RV/LV ≥0.9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27048" y="4700016"/>
            <a:ext cx="5861304" cy="0"/>
          </a:xfrm>
          <a:prstGeom prst="line">
            <a:avLst/>
          </a:prstGeom>
          <a:ln w="8255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2" y="4892040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87375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肌钙蛋白或利钠肽升高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1856231"/>
            <a:ext cx="3621024" cy="4251960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084831"/>
            <a:ext cx="30540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重要排除条件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852928"/>
            <a:ext cx="305409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活动性显著出血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出血性卒中史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近期缺血性脑事件等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近期大手术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明显凝血/肾功能异常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预期生存＜2年等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干预方案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干预关键：普通导管、低剂量、持续抗凝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无超声辅助；两组均接受抗凝治疗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来源：正文第3页干预、第5页实际实施情况。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47088"/>
            <a:ext cx="50292" cy="2468880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导管置入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30632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标准 4 F 输注导管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置于受累肺动脉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847088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47088"/>
            <a:ext cx="50292" cy="2468880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局部给药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337560"/>
            <a:ext cx="30632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每导管推注 1 mg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继以 1 mg/h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847088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847088"/>
            <a:ext cx="50292" cy="2468880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总剂量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37560"/>
            <a:ext cx="30632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双侧上限 20 mg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单侧上限 10 mg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62856"/>
            <a:ext cx="11000232" cy="1051560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274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溶栓期间继续抗凝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754880"/>
            <a:ext cx="7452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UFH 降低强度，建议 aPTT 50–60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39512"/>
            <a:ext cx="10149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D5E4F4"/>
                </a:solidFill>
                <a:latin typeface="Noto Sans CJK SC"/>
                <a:ea typeface="Noto Sans CJK SC"/>
                <a:cs typeface="Noto Sans CJK SC"/>
              </a:rPr>
              <a:t>溶栓结束后继续治疗剂量抗凝；口服抗凝转换不早于随机化后24小时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7959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实际执行：启动中位 76 min  ｜  89.3% 在3小时内启动  ｜  平均输注 9.3 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终点定义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主要终点：7天内发生的临床复合事件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任一组成事件发生即计入主要终点；同一患者可能符合多个组成项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来源：正文第4页；表3脚注。完整定义见附录。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56231"/>
            <a:ext cx="3520440" cy="2679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56231"/>
            <a:ext cx="50292" cy="2679192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12263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96896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全因死亡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任何原因死亡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856231"/>
            <a:ext cx="3520440" cy="2679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56231"/>
            <a:ext cx="50292" cy="2679192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12263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96896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肺栓塞复发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346703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再次发生肺栓塞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856231"/>
            <a:ext cx="3520440" cy="2679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856231"/>
            <a:ext cx="50292" cy="2679192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12263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596896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心肺失代偿/崩溃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46703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含严重生命支持需求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或达到预设 NEWS 阈值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82312"/>
            <a:ext cx="11000232" cy="1234440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6519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失代偿不等于休克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1376" y="4974336"/>
            <a:ext cx="709574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还包括 ECMO、插管/无创通气，以及24小时后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NEWS ≥9 且间隔15分钟连续两次确认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基线与随访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基线总体相近，既往血栓史存在不平衡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以下数值依次为：CDT＋抗凝 / 单纯抗凝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来源：正文第5–7页；表2。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01368"/>
            <a:ext cx="7790688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基线特征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CDT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11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243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年龄中位数（岁）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24328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624328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" y="3108960"/>
            <a:ext cx="7141463" cy="0"/>
          </a:xfrm>
          <a:prstGeom prst="line">
            <a:avLst/>
          </a:prstGeom>
          <a:ln w="762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" y="328269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女性（%）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826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41.1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282696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40.6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" y="3767328"/>
            <a:ext cx="7141463" cy="0"/>
          </a:xfrm>
          <a:prstGeom prst="line">
            <a:avLst/>
          </a:prstGeom>
          <a:ln w="762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6968" y="394106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双侧肺栓塞（%）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941064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98.2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941064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98.2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" y="4425696"/>
            <a:ext cx="7141463" cy="0"/>
          </a:xfrm>
          <a:prstGeom prst="line">
            <a:avLst/>
          </a:prstGeom>
          <a:ln w="762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6968" y="4599432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RV/LV 中位数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599432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1.13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599432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1.14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6968" y="5084064"/>
            <a:ext cx="7141463" cy="0"/>
          </a:xfrm>
          <a:prstGeom prst="line">
            <a:avLst/>
          </a:prstGeom>
          <a:ln w="762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8096" y="5175504"/>
            <a:ext cx="7424927" cy="603504"/>
          </a:xfrm>
          <a:prstGeom prst="roundRect">
            <a:avLst>
              <a:gd name="adj" fmla="val 8000"/>
            </a:avLst>
          </a:prstGeom>
          <a:solidFill>
            <a:srgbClr val="FF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25780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既往血栓栓塞（%）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5780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22.5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257800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32.4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2792" y="1801368"/>
            <a:ext cx="2971800" cy="2194560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039112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7天随访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2679192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456432"/>
            <a:ext cx="24688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两组均完成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2792" y="4224528"/>
            <a:ext cx="2971800" cy="1984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445312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需关注的偏差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084064"/>
            <a:ext cx="246888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AD681A"/>
                </a:solidFill>
                <a:latin typeface="Noto Sans CJK SC"/>
                <a:ea typeface="Noto Sans CJK SC"/>
                <a:cs typeface="Noto Sans CJK SC"/>
              </a:rPr>
              <a:t>既往血栓史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AD681A"/>
                </a:solidFill>
                <a:latin typeface="Noto Sans CJK SC"/>
                <a:ea typeface="Noto Sans CJK SC"/>
                <a:cs typeface="Noto Sans CJK SC"/>
              </a:rPr>
              <a:t>SMD 22.3%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7天主要终点：0.7% vs 6.8%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ITT：全因死亡、复发PE或心肺失代偿/崩溃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来源：正文第7–8页；表3。NNT为按观察风险差计算的汇报者推算值。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5623560" cy="4379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主要复合终点发生率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50392" y="2505456"/>
          <a:ext cx="5074920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63040" y="5760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2 / 280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5760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19 / 278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19656"/>
            <a:ext cx="5102352" cy="2404872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03911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D5E4F4"/>
                </a:solidFill>
                <a:latin typeface="Noto Sans CJK SC"/>
                <a:ea typeface="Noto Sans CJK SC"/>
                <a:cs typeface="Noto Sans CJK SC"/>
              </a:rPr>
              <a:t>相对风险 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578608"/>
            <a:ext cx="4480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4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49300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95% CI 0.02–0.44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3768" y="2194560"/>
            <a:ext cx="17007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P＜0.001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443984"/>
            <a:ext cx="5102352" cy="176479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64515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绝对风险降低 6.1 个百分点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28523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NNT ≈17（7天）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824728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绝对风险降低95% CI：3.0–9.2 个百分点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拆解主要终点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差异主要来自心肺失代偿/崩溃减少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7天组成终点：以下均为发生事件的患者比例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来源：正文第7–8页；表3。组成终点CI未校正多重比较。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5897880" y="1792224"/>
            <a:ext cx="109728" cy="109728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7556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CDT＋抗凝（n=280）</a:t>
            </a:r>
          </a:p>
        </p:txBody>
      </p:sp>
      <p:sp>
        <p:nvSpPr>
          <p:cNvPr id="10" name="Oval 9"/>
          <p:cNvSpPr/>
          <p:nvPr/>
        </p:nvSpPr>
        <p:spPr>
          <a:xfrm>
            <a:off x="8641080" y="1792224"/>
            <a:ext cx="109728" cy="109728"/>
          </a:xfrm>
          <a:prstGeom prst="ellipse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7556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单纯抗凝（n=278）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21992"/>
            <a:ext cx="110002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478024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心肺失代偿/崩溃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423160"/>
            <a:ext cx="375557" cy="192024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770632"/>
            <a:ext cx="2836942" cy="192024"/>
          </a:xfrm>
          <a:prstGeom prst="rect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340864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0.7%（2例）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2724912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5.4%（15例）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91840"/>
            <a:ext cx="110002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54787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全因死亡</a:t>
            </a:r>
          </a:p>
        </p:txBody>
      </p:sp>
      <p:sp>
        <p:nvSpPr>
          <p:cNvPr id="20" name="Oval 19"/>
          <p:cNvSpPr/>
          <p:nvPr/>
        </p:nvSpPr>
        <p:spPr>
          <a:xfrm>
            <a:off x="4366259" y="3543300"/>
            <a:ext cx="50292" cy="50292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840480"/>
            <a:ext cx="756517" cy="192024"/>
          </a:xfrm>
          <a:prstGeom prst="rect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410712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0（0例）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3794760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1.4%（4例）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361688"/>
            <a:ext cx="110002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6177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肺栓塞复发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562855"/>
            <a:ext cx="375557" cy="192024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910327"/>
            <a:ext cx="189129" cy="192024"/>
          </a:xfrm>
          <a:prstGeom prst="rect">
            <a:avLst/>
          </a:prstGeom>
          <a:solidFill>
            <a:srgbClr val="839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4480559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0.7%（2例）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4864607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0.4%（1例）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513832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图示统一标尺：0–6%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843016"/>
            <a:ext cx="11000232" cy="43891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91159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组成事件可重叠，不能相加；死亡与复发事件少，不宜单独作确定性结论。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安全性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未见明确出血差异，颅内出血仍需警惕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“差异不显著”不等于“出血风险不增加”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来源：正文第8–11页；表4。所有数值为7天累计。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100023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1148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安全性终点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1031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CDT＋抗凝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2011680"/>
            <a:ext cx="203911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单纯抗凝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011680"/>
            <a:ext cx="16459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P 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734056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临床相关出血（BARC≥2）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3405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4.6% / 13例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2734056"/>
            <a:ext cx="2039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5.0% / 14例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3405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0.85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3264408"/>
            <a:ext cx="10323576" cy="0"/>
          </a:xfrm>
          <a:prstGeom prst="line">
            <a:avLst/>
          </a:prstGeom>
          <a:ln w="8255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3511296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大出血（GUSTO）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112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1.4% / 4例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511296"/>
            <a:ext cx="2039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2.2% / 6例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51129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0.54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" y="4041648"/>
            <a:ext cx="10323576" cy="0"/>
          </a:xfrm>
          <a:prstGeom prst="line">
            <a:avLst/>
          </a:prstGeom>
          <a:ln w="8255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8096" y="4187952"/>
            <a:ext cx="10652760" cy="667512"/>
          </a:xfrm>
          <a:prstGeom prst="roundRect">
            <a:avLst>
              <a:gd name="adj" fmla="val 8000"/>
            </a:avLst>
          </a:prstGeom>
          <a:solidFill>
            <a:srgbClr val="FF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288536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颅内出血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8853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0.7% / 2例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4288536"/>
            <a:ext cx="2039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0 / 0例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28853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0.50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468112"/>
            <a:ext cx="11000232" cy="713232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605272"/>
            <a:ext cx="10424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罕见严重出血的估计不精确，尚不能确认安全等效。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次要结果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次要结局提示恢复更快，需审慎解读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蓝色为 CDT＋抗凝，灰蓝色为单纯抗凝；除功能比例外均为中位数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来源：正文第8–9页。次要终点未校正多重比较；不据此推断确定疗效。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0512"/>
            <a:ext cx="5376672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93392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24小时 RV/LV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05456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0.94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15184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05456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839AB3"/>
                </a:solidFill>
                <a:latin typeface="Noto Sans CJK SC"/>
                <a:ea typeface="Noto Sans CJK SC"/>
                <a:cs typeface="Noto Sans CJK SC"/>
              </a:rPr>
              <a:t>1.07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20040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右室负荷改善信号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10512"/>
            <a:ext cx="5376672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993392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ICU 住院时间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05456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2.1天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15184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05456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839AB3"/>
                </a:solidFill>
                <a:latin typeface="Noto Sans CJK SC"/>
                <a:ea typeface="Noto Sans CJK SC"/>
                <a:cs typeface="Noto Sans CJK SC"/>
              </a:rPr>
              <a:t>2.8天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重症监护时间更短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13048"/>
            <a:ext cx="5376672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995928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总住院时间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507992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4.3天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617720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507992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839AB3"/>
                </a:solidFill>
                <a:latin typeface="Noto Sans CJK SC"/>
                <a:ea typeface="Noto Sans CJK SC"/>
                <a:cs typeface="Noto Sans CJK SC"/>
              </a:rPr>
              <a:t>5.1天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20293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住院时间更短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13048"/>
            <a:ext cx="5376672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995928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30天 WHO 功能Ⅰ级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507992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58.2%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617720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507992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839AB3"/>
                </a:solidFill>
                <a:latin typeface="Noto Sans CJK SC"/>
                <a:ea typeface="Noto Sans CJK SC"/>
                <a:cs typeface="Noto Sans CJK SC"/>
              </a:rPr>
              <a:t>44.6%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20293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功能状态恢复信号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852160"/>
            <a:ext cx="11000232" cy="43891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9207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方向一致，可支持“早期恢复更快”的解释；不能逐项宣称已确证获益。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批判性评价 · 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可信之处：随机比较、临床终点、完整早期随访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主要结果的可信度，来自设计和执行共同支持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来源：正文第2页、第4–5页；图1。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352044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47088"/>
            <a:ext cx="50292" cy="3401568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随机＋ITT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3063240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558例均纳入分析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改善组间可比性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减少分析排除偏倚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847088"/>
            <a:ext cx="352044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47088"/>
            <a:ext cx="50292" cy="3401568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临床事件终点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337560"/>
            <a:ext cx="3063240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不只观察影像指标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直接评估早期恶化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847088"/>
            <a:ext cx="352044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847088"/>
            <a:ext cx="50292" cy="3401568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早期随访完整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37560"/>
            <a:ext cx="3063240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7天随访两组均100%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主要终点无失访缺口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04688"/>
            <a:ext cx="11000232" cy="694944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66013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实施可行：导管成功置入并启动输注 99.6%；结果与按方案分析方向一致。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批判性评价 · 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结论的边界：偏倚、精确度、可推广性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显著的主要结果，仍需要放回试验条件下理解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来源：正文第2页、第5页、第10–11页。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3520440" cy="3447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47088"/>
            <a:ext cx="50292" cy="3447288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观察与处置偏倚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3063240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开放标签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事件裁定亦未盲法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部分终点受处置影响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847088"/>
            <a:ext cx="3520440" cy="3447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47088"/>
            <a:ext cx="50292" cy="3447288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稀少事件的精确度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337560"/>
            <a:ext cx="3063240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主要事件合计21例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死亡、颅内出血更少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难确认生存/安全差异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847088"/>
            <a:ext cx="3520440" cy="3447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847088"/>
            <a:ext cx="50292" cy="3447288"/>
          </a:xfrm>
          <a:prstGeom prst="rect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03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58775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外推需谨慎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37560"/>
            <a:ext cx="3063240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单一国家、主要白人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未纳入＞80岁患者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无筛查日志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04688"/>
            <a:ext cx="11000232" cy="694944"/>
          </a:xfrm>
          <a:prstGeom prst="roundRect">
            <a:avLst>
              <a:gd name="adj" fmla="val 8000"/>
            </a:avLst>
          </a:prstGeom>
          <a:solidFill>
            <a:srgbClr val="FF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650992"/>
            <a:ext cx="104241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AD681A"/>
                </a:solidFill>
                <a:latin typeface="Noto Sans CJK SC"/>
                <a:ea typeface="Noto Sans CJK SC"/>
                <a:cs typeface="Noto Sans CJK SC"/>
              </a:rPr>
              <a:t>另需注意：30天随访率 99.3% vs 94.6%；长期随访尚在进行。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如何应用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临床转化：支持选择性评估早期 CDT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更接近证据的人群与中心，才更接近可期待的获益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来源：正文第10–11页讨论。此页为基于研究范围的临床解读。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37943"/>
            <a:ext cx="5550408" cy="4325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57400"/>
            <a:ext cx="49743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应用前的三个前提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2852928"/>
            <a:ext cx="329184" cy="329184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75788"/>
            <a:ext cx="3291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34640"/>
            <a:ext cx="4370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符合试验所定义的中高危人群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3694176"/>
            <a:ext cx="329184" cy="329184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717036"/>
            <a:ext cx="3291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75888"/>
            <a:ext cx="4370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出血风险经严格筛查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" y="4535424"/>
            <a:ext cx="329184" cy="329184"/>
          </a:xfrm>
          <a:prstGeom prst="ellipse">
            <a:avLst/>
          </a:prstGeom>
          <a:solidFill>
            <a:srgbClr val="176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558284"/>
            <a:ext cx="3291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17136"/>
            <a:ext cx="4370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中心具备监护、介入与救援能力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1837943"/>
            <a:ext cx="5202936" cy="432511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057400"/>
            <a:ext cx="46268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研究尚未回答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834640"/>
            <a:ext cx="4626864" cy="2670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是否优于超声辅助 CDT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是否优于系统溶栓或机械取栓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＞80岁及更高出血风险人群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长期功能与生存是否获益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PRAGUE-26  /  汇报总结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最稳妥的结论：减少早期心肺失代偿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102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来源：表3、表4；正文第10–11页。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11000232" cy="1078992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2075688"/>
            <a:ext cx="1856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有效性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39696"/>
            <a:ext cx="759866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7天复合终点 0.7% vs 6.8%，主要由失代偿减少驱动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45536"/>
            <a:ext cx="11000232" cy="1078992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401568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3374136"/>
            <a:ext cx="1856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安全性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38144"/>
            <a:ext cx="759866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颅内出血 2 vs 0；仍需警惕罕见严重出血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43983"/>
            <a:ext cx="11000232" cy="1078992"/>
          </a:xfrm>
          <a:prstGeom prst="roundRect">
            <a:avLst>
              <a:gd name="adj" fmla="val 8000"/>
            </a:avLst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700016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3936" y="4672583"/>
            <a:ext cx="1856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适用性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36592"/>
            <a:ext cx="759866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筛选患者＋成熟中心；生存和长期获益尚待验证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98464"/>
            <a:ext cx="10698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A5D7"/>
                </a:solidFill>
                <a:latin typeface="Noto Sans CJK SC"/>
                <a:ea typeface="Noto Sans CJK SC"/>
                <a:cs typeface="Noto Sans CJK SC"/>
              </a:rPr>
              <a:t>讨论焦点：如何识别“值得在恶化前介入”的患者？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备查定义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附录 A｜“心肺失代偿/崩溃”的操作定义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满足下列任一条件；NEWS 条件具有单独的起始时间限制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来源：正文第4页 Outcomes。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6693408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48256"/>
            <a:ext cx="6144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随机化至第7天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6144768" cy="2258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心搏骤停 / 需要心肺复苏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新发持续低血压＋终末器官低灌注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启动 ECMO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插管或启动无创机械通气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30952"/>
            <a:ext cx="614476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低血压：SBP＜90或下降≥40 mmHg持续≥15 min，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或需升压药维持SBP≥90 mmHg；且容量状态适当。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4656" y="1828800"/>
            <a:ext cx="4059936" cy="437083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5" y="2048256"/>
            <a:ext cx="3511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24小时至第7天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852928"/>
            <a:ext cx="35112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NEWS ≥9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3849624"/>
            <a:ext cx="351129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相隔15分钟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连续两次测量确认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5605272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不能把所有失代偿都等同于休克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备查数据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附录 B｜7天与30天累计安全性数据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统一顺序：CDT＋抗凝 / 单纯抗凝；表4为累计发生患者数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来源：第9页表4；死亡时间窗见第8页正文。数值为 n（%），死亡行为例数。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01368"/>
            <a:ext cx="11000232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9339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结局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93392"/>
            <a:ext cx="28712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7天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19933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30天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BARC≥2 出血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633472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13 (4.6) / 14 (5.0)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2983" y="26334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16 (5.7) / 16 (5.8)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026664"/>
            <a:ext cx="10369296" cy="0"/>
          </a:xfrm>
          <a:prstGeom prst="line">
            <a:avLst/>
          </a:prstGeom>
          <a:ln w="635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154679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GUSTO 大出血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154679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4 (1.4) / 6 (2.2)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3" y="315467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5 (1.8) / 6 (2.2)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547872"/>
            <a:ext cx="10369296" cy="0"/>
          </a:xfrm>
          <a:prstGeom prst="line">
            <a:avLst/>
          </a:prstGeom>
          <a:ln w="635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3675887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ISTH 大出血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3675887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5 (1.8) / 7 (2.5)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3" y="3675887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6 (2.1) / 7 (2.5)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4069079"/>
            <a:ext cx="10369296" cy="0"/>
          </a:xfrm>
          <a:prstGeom prst="line">
            <a:avLst/>
          </a:prstGeom>
          <a:ln w="635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8096" y="4142232"/>
            <a:ext cx="10652760" cy="484632"/>
          </a:xfrm>
          <a:prstGeom prst="roundRect">
            <a:avLst>
              <a:gd name="adj" fmla="val 8000"/>
            </a:avLst>
          </a:prstGeom>
          <a:solidFill>
            <a:srgbClr val="FF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97096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颅内出血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4197096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2 (0.7) /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2983" y="419709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2 (0.7) /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18304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缺血性卒中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718304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0 / 1 (0.4)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983" y="47183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0 / 1 (0.4)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" y="5111496"/>
            <a:ext cx="10369296" cy="0"/>
          </a:xfrm>
          <a:prstGeom prst="line">
            <a:avLst/>
          </a:prstGeom>
          <a:ln w="635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8096" y="5184648"/>
            <a:ext cx="10652760" cy="48463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39512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全因死亡（例）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5239512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0 /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52395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9324F"/>
                </a:solidFill>
                <a:latin typeface="Noto Sans CJK SC"/>
                <a:ea typeface="Noto Sans CJK SC"/>
                <a:cs typeface="Noto Sans CJK SC"/>
              </a:rPr>
              <a:t>1 /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91616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30天随访：CDT 278/280（99.3%）；对照 263/278（94.6%）。死亡例数为正文报告的累计数。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备查方法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附录 C｜统计设计与效应量如何解读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检验针对复合终点；次要终点并未获得同等级的确证性解释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来源：正文第4页统计分析、第7页风险差。NNT为汇报者推算。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37943"/>
            <a:ext cx="5303520" cy="4325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预设统计方案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475488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558例，效能80%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预期事件率：1.5% vs 6.0%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ITT；Fisher精确检验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两次期中分析，最终阈值P＜0.047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次要结局未校正多重比较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837943"/>
            <a:ext cx="5449824" cy="4325112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57400"/>
            <a:ext cx="49011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临床量级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825496"/>
            <a:ext cx="49011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ARR = 19/278 − 2/280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483864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≈ 6.12 个百分点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288536"/>
            <a:ext cx="49011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NNT = 1 / ARR ≈ 16.34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983480"/>
            <a:ext cx="49011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向上取整：≈17人（7天）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5696712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仅针对本研究7天主要复合终点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PRAGUE-26  /  引用与资料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参考文献与试验信息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原始研究  ·  试验注册  ·  补充资料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09944"/>
            <a:ext cx="11000232" cy="0"/>
          </a:xfrm>
          <a:prstGeom prst="line">
            <a:avLst/>
          </a:prstGeom>
          <a:ln w="8890">
            <a:solidFill>
              <a:srgbClr val="D6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数据来源：研究正文表1–4及结果章节；图表据原文数据重绘。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10002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主文献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10378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Kroupa J, Radvan M, Mrozek J, et 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54096"/>
            <a:ext cx="1037844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Catheter-Directed Thrombolysis 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Intermediate-High–Risk Pulmonary Embolism.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13632"/>
            <a:ext cx="10378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N Engl J Med. Published online August 31, 2026.  doi:10.1056/NEJMoa2608012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526280"/>
            <a:ext cx="5303520" cy="1636776"/>
          </a:xfrm>
          <a:prstGeom prst="roundRect">
            <a:avLst>
              <a:gd name="adj" fmla="val 8000"/>
            </a:avLst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765CF"/>
                </a:solidFill>
                <a:latin typeface="Noto Sans CJK SC"/>
                <a:ea typeface="Noto Sans CJK SC"/>
                <a:cs typeface="Noto Sans CJK SC"/>
              </a:rPr>
              <a:t>试验标识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21808"/>
            <a:ext cx="475488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PRAGUE-26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ClinicalTrials.gov：NCT05493163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4526280"/>
            <a:ext cx="5449824" cy="1636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4709160"/>
            <a:ext cx="4901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02C50"/>
                </a:solidFill>
                <a:latin typeface="Noto Sans CJK SC"/>
                <a:ea typeface="Noto Sans CJK SC"/>
                <a:cs typeface="Noto Sans CJK SC"/>
              </a:rPr>
              <a:t>补充资料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5321808"/>
            <a:ext cx="490118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本文共11页；补充附录待查阅。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2年长期随访尚在进行。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PRAGUE-26：中高危肺栓塞导管定向溶栓｜文献汇报</dc:title>
  <dc:subject>对上传论文的中文精读、结果展示与批判性评价</dc:subject>
  <dc:creator>文献汇报</dc:creator>
  <cp:keywords>PRAGUE-26, pulmonary embolism, catheter-directed thrombolysis, journal club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